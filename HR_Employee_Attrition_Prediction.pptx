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34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INDIVIDUAL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Employee Attrition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Understanding &amp; Forecasting Workforce Turnover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2011680" cy="0"/>
          </a:xfrm>
          <a:prstGeom prst="line">
            <a:avLst/>
          </a:prstGeom>
          <a:noFill/>
          <a:ln w="38100">
            <a:solidFill>
              <a:srgbClr val="E860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576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9224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8185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 Ankul Raghav                Email :  ankulraghav283204@gmail.com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443484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Attrition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turnover is costly — recruitment, onboarding, and lost productivity add up fast.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to identify at-risk employees before they resign, not after.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model turns HR data into an early-warning system for retention teams.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434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classification models that predict whether an employee will leave the company (Attrition = Yes/No), using demographic, job, and satisfaction data — then interpret which factors drive the decision to leave.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0" y="4251960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4251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4224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 the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4672584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4672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4645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&amp; encode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5093208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5093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50657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5513832"/>
            <a:ext cx="292608" cy="2926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5513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5486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explain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3258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51760" cy="13258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4505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51760" cy="13258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4505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51760" cy="132588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24505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HR Analytics Employee Attrition &amp; Performance dataset (WA_Fn-UseC_-HR-Employee-Attrition.csv)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Marital Status, Distance From Home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416052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Details: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Job Role, Job Level, Business Travel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782312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Compensation: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Daily/Hourly Rate, Salary Hike %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4782312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/ Environment / Relationship Satisfaction, Work-Life Balance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404104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Company, in Current Role, Since Last Promotion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72200" y="5404104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Involvement, Training Times, Stock Option Level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6032" cy="256032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311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</a:t>
            </a: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across all 35 columns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56032" cy="256032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797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— </a:t>
            </a: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 detected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Removed (non-informative)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28016" cy="310896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507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EmployeeCount  —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 (always 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71416"/>
            <a:ext cx="128016" cy="310896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53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Over18  —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 (always Y)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73752"/>
            <a:ext cx="128016" cy="310896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85546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StandardHours  —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value (always 80)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76088"/>
            <a:ext cx="128016" cy="310896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57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EmployeeNumber  —  </a:t>
            </a: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ID, no predictive signal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94960" cy="4434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2606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  ×  31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58368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 ×  columns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3886200"/>
            <a:ext cx="47548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1148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dataset with 4 fewer columns, ready for exploratory analysis and encoding — no imputation was needed since there were zero missing values.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Variable: Attrition Distribution</a:t>
            </a:r>
            <a:endParaRPr lang="en-US" sz="3000" dirty="0"/>
          </a:p>
        </p:txBody>
      </p:sp>
      <p:pic>
        <p:nvPicPr>
          <p:cNvPr id="4" name="Image 0" descr="charts/chart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035040" cy="4011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783080"/>
            <a:ext cx="4754880" cy="420624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2376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83.9%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22376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(1,233 employees)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326880" y="2514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326880" y="3200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(237 employees)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23760" y="3886200"/>
            <a:ext cx="4114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23760" y="411480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imbalanced — only about 1 in 6 employees left. This motivates using class_weight="balanced" during training so the minority (Left) class isn't ignored by the models.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Features vs. Attrition</a:t>
            </a:r>
            <a:endParaRPr lang="en-US" sz="3000" dirty="0"/>
          </a:p>
        </p:txBody>
      </p:sp>
      <p:pic>
        <p:nvPicPr>
          <p:cNvPr id="4" name="Image 0" descr="charts/char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529" y="1737360"/>
            <a:ext cx="6169895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2369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Younger, shorter-tenured employees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higher attrition (lower Age, YearsAtCompany, TotalWorkingYears).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9362303" y="2651760"/>
            <a:ext cx="2369449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job-hopping &amp; low income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leaving — note NumCompaniesWorked and MonthlyIncome spread.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Features vs. Attrition</a:t>
            </a:r>
            <a:endParaRPr lang="en-US" sz="3000" dirty="0"/>
          </a:p>
        </p:txBody>
      </p:sp>
      <p:pic>
        <p:nvPicPr>
          <p:cNvPr id="4" name="Image 0" descr="charts/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3350483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64883" y="1737360"/>
            <a:ext cx="3550555" cy="14173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6" name="Text 3"/>
          <p:cNvSpPr/>
          <p:nvPr/>
        </p:nvSpPr>
        <p:spPr>
          <a:xfrm>
            <a:off x="4402043" y="1828800"/>
            <a:ext cx="32762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02043" y="2176272"/>
            <a:ext cx="32762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leave at a much higher rate.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89757" y="1737360"/>
            <a:ext cx="3550555" cy="14173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9" name="Text 6"/>
          <p:cNvSpPr/>
          <p:nvPr/>
        </p:nvSpPr>
        <p:spPr>
          <a:xfrm>
            <a:off x="8226917" y="1828800"/>
            <a:ext cx="32762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6917" y="2176272"/>
            <a:ext cx="32762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&amp; Lab Technicians show the highest attrition shares.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64883" y="3337560"/>
            <a:ext cx="3550555" cy="14173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2" name="Text 9"/>
          <p:cNvSpPr/>
          <p:nvPr/>
        </p:nvSpPr>
        <p:spPr>
          <a:xfrm>
            <a:off x="4402043" y="3429000"/>
            <a:ext cx="32762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02043" y="3776472"/>
            <a:ext cx="32762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leave more often than married/divorced.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89757" y="3337560"/>
            <a:ext cx="3550555" cy="14173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226917" y="3429000"/>
            <a:ext cx="32762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6917" y="3776472"/>
            <a:ext cx="32762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satisfaction scores (1–2) skew heavily toward leaving.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64883" y="4937760"/>
            <a:ext cx="3550555" cy="14173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8" name="Text 15"/>
          <p:cNvSpPr/>
          <p:nvPr/>
        </p:nvSpPr>
        <p:spPr>
          <a:xfrm>
            <a:off x="4402043" y="5029200"/>
            <a:ext cx="32762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402043" y="5376672"/>
            <a:ext cx="32762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balance ratings align with higher turnover.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89757" y="4937760"/>
            <a:ext cx="3550555" cy="14173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226917" y="5029200"/>
            <a:ext cx="32762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Option Level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6917" y="5376672"/>
            <a:ext cx="32762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0 stock options leave more frequently.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(Numeric Features)</a:t>
            </a:r>
            <a:endParaRPr lang="en-US" sz="3000" dirty="0"/>
          </a:p>
        </p:txBody>
      </p:sp>
      <p:pic>
        <p:nvPicPr>
          <p:cNvPr id="4" name="Image 0" descr="charts/char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537" y="1737360"/>
            <a:ext cx="5556358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81215" y="1737360"/>
            <a:ext cx="2950537" cy="461772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6" name="Text 3"/>
          <p:cNvSpPr/>
          <p:nvPr/>
        </p:nvSpPr>
        <p:spPr>
          <a:xfrm>
            <a:off x="9009815" y="1920240"/>
            <a:ext cx="24933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09815" y="2377440"/>
            <a:ext cx="2493337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correlations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tenure fields: YearsAtCompany, YearsInCurrentRole, YearsWithCurrManager.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JobLevel &amp; MonthlyIncome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highly correlated, as expected from pay-grade structure.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show low multicollinearity,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their combined use in modeling.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Categorical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46120" cy="2468880"/>
          </a:xfrm>
          <a:prstGeom prst="rect">
            <a:avLst/>
          </a:prstGeom>
          <a:solidFill>
            <a:srgbClr val="EAF2F6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Columns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788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(numeric + categorical)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959352" y="3154680"/>
            <a:ext cx="630936" cy="457200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2103120"/>
            <a:ext cx="3246120" cy="2468880"/>
          </a:xfrm>
          <a:prstGeom prst="rect">
            <a:avLst/>
          </a:prstGeom>
          <a:solidFill>
            <a:srgbClr val="EAF2F6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92040" y="2880360"/>
            <a:ext cx="2788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→ 0/1 flag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(drop_first = True)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82712" y="3154680"/>
            <a:ext cx="630936" cy="45720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2103120"/>
            <a:ext cx="3246120" cy="2468880"/>
          </a:xfrm>
          <a:prstGeom prst="rect">
            <a:avLst/>
          </a:prstGeom>
          <a:solidFill>
            <a:srgbClr val="EAF2F6"/>
          </a:solidFill>
          <a:ln w="25400">
            <a:solidFill>
              <a:srgbClr val="E860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Columns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915400" y="2880360"/>
            <a:ext cx="27889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numeric,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feature set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07492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definition:  </a:t>
            </a: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Attrition_Flag = 1 if the employee left ("Yes"), else 0.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with drop_first=True on all object-type columns (JobRole, Department, MaritalStatus, OverTime, etc.) to avoid the dummy-variable trap.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Split, Scaling &amp; Model Choice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Split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50592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train_test_split on Attrition_Flag preserves the 16% attrition ratio in both sets (random_state=42).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228600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73736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50592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standardizes features for Logistic Regression; Random Forest uses unscaled data (tree-based, scale-invariant).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228600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737360"/>
            <a:ext cx="356616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450592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applied to both models to counter the 84/16 imbalance in the target.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Logistic Regression  —  </a:t>
            </a:r>
            <a:r>
              <a:rPr lang="en-US" sz="1200" dirty="0">
                <a:solidFill>
                  <a:srgbClr val="5B6B76"/>
                </a:solidFill>
              </a:rPr>
              <a:t>max_iter=1000  ·  class_weight=balanced  ·  scaled features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28016" cy="12801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166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</a:rPr>
              <a:t>Random Forest  —  </a:t>
            </a:r>
            <a:r>
              <a:rPr lang="en-US" sz="1200" dirty="0">
                <a:solidFill>
                  <a:srgbClr val="5B6B76"/>
                </a:solidFill>
              </a:rPr>
              <a:t>n_estimators=300  ·  max_depth=8  ·  class_weight=balanced  ·  unscaled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Evaluation: Performance Metrics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3657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83080"/>
            <a:ext cx="3840480" cy="365760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accuracy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misses most leavers (recall 0.17) — it's biased toward the majority class.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finds more leavers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 0.617, ROC-AUC 0.798) — better suited when missing a leaver is costly.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HR retention use case, recall on the “Left” class matters more than raw accuracy — the cost of missing a real flight-risk employee outweighs a false alarm.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pic>
        <p:nvPicPr>
          <p:cNvPr id="5" name="Image 0" descr="charts/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103120"/>
            <a:ext cx="3931920" cy="37085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pic>
        <p:nvPicPr>
          <p:cNvPr id="7" name="Image 1" descr="charts/chart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03120"/>
            <a:ext cx="3931920" cy="36973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catches far more true “Left” cases, at the cost of more false alarms; Random Forest is conservative and misses most leavers.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 Comparison</a:t>
            </a:r>
            <a:endParaRPr lang="en-US" sz="3000" dirty="0"/>
          </a:p>
        </p:txBody>
      </p:sp>
      <p:pic>
        <p:nvPicPr>
          <p:cNvPr id="4" name="Image 0" descr="charts/char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146669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52509" y="1783080"/>
            <a:ext cx="5487803" cy="4572000"/>
          </a:xfrm>
          <a:prstGeom prst="rect">
            <a:avLst/>
          </a:prstGeom>
          <a:solidFill>
            <a:srgbClr val="EAF2F6"/>
          </a:solidFill>
          <a:ln/>
        </p:spPr>
      </p:sp>
      <p:sp>
        <p:nvSpPr>
          <p:cNvPr id="6" name="Text 3"/>
          <p:cNvSpPr/>
          <p:nvPr/>
        </p:nvSpPr>
        <p:spPr>
          <a:xfrm>
            <a:off x="6426829" y="2011680"/>
            <a:ext cx="49391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26829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26829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26829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0.769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26829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26829" y="4800600"/>
            <a:ext cx="4939163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829" y="4983480"/>
            <a:ext cx="4939163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separate the classes far better than random guessing (the dashed diagonal). Logistic Regression has the edge in overall ranking ability.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Attrition? Feature Importance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Coefficients</a:t>
            </a:r>
            <a:endParaRPr lang="en-US" sz="1350" dirty="0"/>
          </a:p>
        </p:txBody>
      </p:sp>
      <p:pic>
        <p:nvPicPr>
          <p:cNvPr id="5" name="Image 0" descr="charts/char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7400"/>
            <a:ext cx="5486400" cy="35392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</a:t>
            </a:r>
            <a:endParaRPr lang="en-US" sz="1350" dirty="0"/>
          </a:p>
        </p:txBody>
      </p:sp>
      <p:pic>
        <p:nvPicPr>
          <p:cNvPr id="7" name="Image 1" descr="charts/chart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057400"/>
            <a:ext cx="5486400" cy="37987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agree: OverTime, low job/environment satisfaction, and short tenure are the strongest signals of attrition risk.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imbalanced (16%) — accuracy alone is misleading; recall and ROC-AUC matter more.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18104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offers the best recall (0.617) and ROC-AUC (0.798) for catching at-risk employees.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86784"/>
            <a:ext cx="109728" cy="10972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low satisfaction, and short tenure are the top drivers of attrition in both models.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94960" cy="4434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478024"/>
            <a:ext cx="109728" cy="109728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4231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overtime load closely — it's the single strongest attrition signal.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3255264"/>
            <a:ext cx="109728" cy="109728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2004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retention check-ins for employees in their first 2–3 years.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4032504"/>
            <a:ext cx="109728" cy="109728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9776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satisfaction &amp; work-life balance survey scores as leading indicators.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809744"/>
            <a:ext cx="109728" cy="109728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7548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Logistic Regression as the screening model; use it to flag employees for HR outreach, not automated decisions.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1164</Words>
  <Application>Microsoft Office PowerPoint</Application>
  <PresentationFormat>Widescreen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Ankul raghav</cp:lastModifiedBy>
  <cp:revision>2</cp:revision>
  <dcterms:created xsi:type="dcterms:W3CDTF">2026-07-28T04:42:09Z</dcterms:created>
  <dcterms:modified xsi:type="dcterms:W3CDTF">2026-07-28T04:50:50Z</dcterms:modified>
</cp:coreProperties>
</file>