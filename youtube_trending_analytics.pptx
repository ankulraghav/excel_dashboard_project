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120640"/>
            <a:ext cx="3108960" cy="31089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 ·  EDA &amp; PREDICTIVE MODELING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Trending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Analytics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what drives a video to trend — and forecasting what happens next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1005840" cy="0"/>
          </a:xfrm>
          <a:prstGeom prst="line">
            <a:avLst/>
          </a:prstGeom>
          <a:noFill/>
          <a:ln w="381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161,470 videos analyzed  ·  55,886 clean records  ·  3 predictive models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YouTube trending data?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08483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a trending video from the millions that never break through — and can we predict it?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8620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255264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Kaggle trending-video snapshots: titles, tags, timing, channel history, and engagement metrics.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78224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4032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425696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engineer features → explore patterns visually → train regression models → forecast trending volume.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48656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48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52029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Outcome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59612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view-prediction model, a ranked list of the features that matter most, and a short-term trending forecast.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173736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1B1F3B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AT A GLANCE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43800" y="2514600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25146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&amp; Load CSV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43800" y="3172968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0" y="317296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Engineer Features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43800" y="3831336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9" name="Text 27"/>
          <p:cNvSpPr/>
          <p:nvPr/>
        </p:nvSpPr>
        <p:spPr>
          <a:xfrm>
            <a:off x="7543800" y="38313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0" y="383133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543800" y="4489704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4489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0" y="448970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A: Predict Views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543800" y="514807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5" name="Text 33"/>
          <p:cNvSpPr/>
          <p:nvPr/>
        </p:nvSpPr>
        <p:spPr>
          <a:xfrm>
            <a:off x="7543800" y="5148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046720" y="51480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B: Forecast Volume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5F1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161,470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72491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trending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5F1F0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965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72491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5F1F0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965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55,886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272491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 after dedup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78308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5F1F0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965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72491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categories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video: ~96,000 views · median 1 day to trend · 16.7 tags avg. · 60-char titles avg.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1B1F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988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RAW FIELDS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892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video_id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4892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trending_date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48920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channel_title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52578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category_id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52578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publish_date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6235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34840" y="56235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56235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likes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5989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dislikes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34840" y="5989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comment_count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55280" y="59893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comments_disabled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03704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trending_date, drop duplicate video_id (keep first)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2432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missing publish_date or trending_date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9125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videos with views &gt; 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04488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5818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likes / dislikes / comment_count to ≥ 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29784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983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tags_count · title_length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38581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days_to_trend (clipped 0–60)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934456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7881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publish_hour · publish_dow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6336792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1904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engagement_rate = (likes+comments)/views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169164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F5F1F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SIGNALS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log_views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675120" y="27523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log10(views) — tames extreme skew for modeling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33558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like_dislike_ratio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675120" y="36850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/ dislikes (0 replaced with 1)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75120" y="428853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channel_video_count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675120" y="4617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 channel has trended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75120" y="52212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channel_tier (1–5)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675120" y="55504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quintile rank of channel activity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categories trend most often?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03808" y="1463040"/>
            <a:ext cx="9784080" cy="4956643"/>
          </a:xfrm>
          <a:prstGeom prst="roundRect">
            <a:avLst>
              <a:gd name="adj" fmla="val 1476"/>
            </a:avLst>
          </a:prstGeom>
          <a:solidFill>
            <a:srgbClr val="F5F1F0"/>
          </a:solidFill>
          <a:ln/>
        </p:spPr>
      </p:sp>
      <p:pic>
        <p:nvPicPr>
          <p:cNvPr id="5" name="Image 0" descr="/home/claude/imgs/cell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600200"/>
            <a:ext cx="9509760" cy="46823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556843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Entertainment, Music, and Howto &amp; Style dominate trending volume across the sample.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counts are heavily right-skewed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03808" y="1463040"/>
            <a:ext cx="9784080" cy="3858996"/>
          </a:xfrm>
          <a:prstGeom prst="roundRect">
            <a:avLst>
              <a:gd name="adj" fmla="val 1896"/>
            </a:avLst>
          </a:prstGeom>
          <a:solidFill>
            <a:srgbClr val="F5F1F0"/>
          </a:solidFill>
          <a:ln/>
        </p:spPr>
      </p:sp>
      <p:pic>
        <p:nvPicPr>
          <p:cNvPr id="5" name="Image 0" descr="/home/claude/imgs/cell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600200"/>
            <a:ext cx="9509760" cy="35846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459196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views span orders of magnitude; log10(views) is far closer to a normal distribution — the reason it's used as the model target.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varies sharply by category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03808" y="1463040"/>
            <a:ext cx="9784080" cy="4520375"/>
          </a:xfrm>
          <a:prstGeom prst="roundRect">
            <a:avLst>
              <a:gd name="adj" fmla="val 1618"/>
            </a:avLst>
          </a:prstGeom>
          <a:solidFill>
            <a:srgbClr val="F5F1F0"/>
          </a:solidFill>
          <a:ln/>
        </p:spPr>
      </p:sp>
      <p:pic>
        <p:nvPicPr>
          <p:cNvPr id="5" name="Image 0" descr="/home/claude/imgs/cell5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600200"/>
            <a:ext cx="9509760" cy="42460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120575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(likes + comments) / views differs widely across categories — some genres inspire far more interaction per view than others.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 trending videos get published?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03808" y="1463040"/>
            <a:ext cx="9784080" cy="3947683"/>
          </a:xfrm>
          <a:prstGeom prst="roundRect">
            <a:avLst>
              <a:gd name="adj" fmla="val 1853"/>
            </a:avLst>
          </a:prstGeom>
          <a:solidFill>
            <a:srgbClr val="F5F1F0"/>
          </a:solidFill>
          <a:ln/>
        </p:spPr>
      </p:sp>
      <p:pic>
        <p:nvPicPr>
          <p:cNvPr id="5" name="Image 0" descr="/home/claude/imgs/cell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600200"/>
            <a:ext cx="9509760" cy="36733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547883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clustering around weekday daytime and early-evening publish hours, with a lighter footprint on weekends.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fast does a video reach trending?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6309360" cy="3578573"/>
          </a:xfrm>
          <a:prstGeom prst="roundRect">
            <a:avLst>
              <a:gd name="adj" fmla="val 2044"/>
            </a:avLst>
          </a:prstGeom>
          <a:solidFill>
            <a:srgbClr val="F5F1F0"/>
          </a:solidFill>
          <a:ln/>
        </p:spPr>
      </p:sp>
      <p:pic>
        <p:nvPicPr>
          <p:cNvPr id="5" name="Image 0" descr="/home/claude/imgs/cell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035040" cy="33042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691640"/>
            <a:ext cx="4617720" cy="3578573"/>
          </a:xfrm>
          <a:prstGeom prst="roundRect">
            <a:avLst>
              <a:gd name="adj" fmla="val 3066"/>
            </a:avLst>
          </a:prstGeom>
          <a:solidFill>
            <a:srgbClr val="1B1F3B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0" y="2011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2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40664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to trend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0664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2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1.65 days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406640" y="3566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trend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06640" y="4114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2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days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406640" y="4617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observed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5315933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videos trend within a day of publishing — a long tail stretches out to 60 days, the clipping ceiling applied during cleaning.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numeric features relate?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124048" y="1463040"/>
            <a:ext cx="5943600" cy="4863418"/>
          </a:xfrm>
          <a:prstGeom prst="roundRect">
            <a:avLst>
              <a:gd name="adj" fmla="val 1504"/>
            </a:avLst>
          </a:prstGeom>
          <a:solidFill>
            <a:srgbClr val="F5F1F0"/>
          </a:solidFill>
          <a:ln/>
        </p:spPr>
      </p:sp>
      <p:pic>
        <p:nvPicPr>
          <p:cNvPr id="5" name="Image 0" descr="/home/claude/imgs/cell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208" y="1600200"/>
            <a:ext cx="5669280" cy="45890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6361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Likes, comments, and engagement rate move together; days_to_trend and title_length show only weak links to raw performance.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top 15 channels by trending views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18208" y="1463040"/>
            <a:ext cx="7955280" cy="4832939"/>
          </a:xfrm>
          <a:prstGeom prst="roundRect">
            <a:avLst>
              <a:gd name="adj" fmla="val 1514"/>
            </a:avLst>
          </a:prstGeom>
          <a:solidFill>
            <a:srgbClr val="F5F1F0"/>
          </a:solidFill>
          <a:ln/>
        </p:spPr>
      </p:sp>
      <p:pic>
        <p:nvPicPr>
          <p:cNvPr id="5" name="Image 0" descr="/home/claude/imgs/cell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5368" y="1600200"/>
            <a:ext cx="7680960" cy="45586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33139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high-frequency channels account for a disproportionate share of total trending views.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· MODEL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a video's view count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F5F1F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67004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log10(views) — stabilizes the heavy right skew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67588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title_length, tags_count, channel_tier, publish_hour, publish_dow, category, comments_disabled, ratings_disabled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468172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for category via ColumnTransformer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53949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5687568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random_state = 42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21488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86600" y="2103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86600" y="248716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baseline for comparison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383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3337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Regressor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721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trees, max depth 12 — captures non-linear interactions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46177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4572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Regressor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86600" y="49560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stages, depth 3, learning rate 0.05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wins on test data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66928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234440"/>
                <a:gridCol w="1143000"/>
                <a:gridCol w="1143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(log10 views)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1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9476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gives the lowest error and explains the largest share of variance, though the moderate R² (0.25) shows view counts still carry a lot of unpredictable, timing-driven randomness.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178040" y="1554480"/>
            <a:ext cx="3840480" cy="3840480"/>
          </a:xfrm>
          <a:prstGeom prst="roundRect">
            <a:avLst>
              <a:gd name="adj" fmla="val 1905"/>
            </a:avLst>
          </a:prstGeom>
          <a:solidFill>
            <a:srgbClr val="F5F1F0"/>
          </a:solidFill>
          <a:ln/>
        </p:spPr>
      </p:sp>
      <p:pic>
        <p:nvPicPr>
          <p:cNvPr id="7" name="Image 0" descr="/home/claude/imgs/cell1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91640"/>
            <a:ext cx="356616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0" y="5486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actual log-views on the held-out test set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·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a video's views?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6309360" cy="4261270"/>
          </a:xfrm>
          <a:prstGeom prst="roundRect">
            <a:avLst>
              <a:gd name="adj" fmla="val 1717"/>
            </a:avLst>
          </a:prstGeom>
          <a:solidFill>
            <a:srgbClr val="F5F1F0"/>
          </a:solidFill>
          <a:ln/>
        </p:spPr>
      </p:sp>
      <p:pic>
        <p:nvPicPr>
          <p:cNvPr id="5" name="Image 0" descr="/home/claude/imgs/cell1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035040" cy="39869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691640"/>
            <a:ext cx="4617720" cy="4261270"/>
          </a:xfrm>
          <a:prstGeom prst="roundRect">
            <a:avLst>
              <a:gd name="adj" fmla="val 2575"/>
            </a:avLst>
          </a:prstGeom>
          <a:solidFill>
            <a:srgbClr val="1B1F3B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RANKING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06640" y="2432304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226771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(one-hot) dominates — what a video is about matters more than any single metadata field.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406640" y="3392424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322783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tier and publish timing (hour, day-of-week) contribute meaningfully.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06640" y="4352544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418795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length and tag count add only marginal predictive lift on their own.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206240" cy="42062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5120640"/>
            <a:ext cx="2926080" cy="2926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· FORECASTING &amp;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daily trending volume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38912" y="1490472"/>
            <a:ext cx="5705856" cy="228753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/>
        </p:spPr>
      </p:sp>
      <p:pic>
        <p:nvPicPr>
          <p:cNvPr id="7" name="Image 0" descr="/home/claude/imgs/cell1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486400" cy="20680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851162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on lag features (1/2/3/7-day) + 7-day rolling mean · RMSE 59.4  ·  MAE 44.2 videos/day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46520" y="1600200"/>
            <a:ext cx="5212080" cy="2854466"/>
          </a:xfrm>
          <a:prstGeom prst="roundRect">
            <a:avLst>
              <a:gd name="adj" fmla="val 3844"/>
            </a:avLst>
          </a:prstGeom>
          <a:solidFill>
            <a:srgbClr val="222A50"/>
          </a:solidFill>
          <a:ln/>
        </p:spPr>
      </p:sp>
      <p:sp>
        <p:nvSpPr>
          <p:cNvPr id="10" name="Text 7"/>
          <p:cNvSpPr/>
          <p:nvPr/>
        </p:nvSpPr>
        <p:spPr>
          <a:xfrm>
            <a:off x="681228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12280" y="2286000"/>
            <a:ext cx="320040" cy="3200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9"/>
          <p:cNvSpPr/>
          <p:nvPr/>
        </p:nvSpPr>
        <p:spPr>
          <a:xfrm>
            <a:off x="681228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69480" y="221284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channel history predict views far better than surface metadata like title length.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12280" y="3182112"/>
            <a:ext cx="320040" cy="3200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2"/>
          <p:cNvSpPr/>
          <p:nvPr/>
        </p:nvSpPr>
        <p:spPr>
          <a:xfrm>
            <a:off x="6812280" y="3182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69480" y="3108960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strongest of three models tested, but moderate R² confirms virality has real randomness.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12280" y="4078224"/>
            <a:ext cx="320040" cy="3200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5"/>
          <p:cNvSpPr/>
          <p:nvPr/>
        </p:nvSpPr>
        <p:spPr>
          <a:xfrm>
            <a:off x="6812280" y="40782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269480" y="400507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videos trend within a single day of publishing, rewarding fast, well-timed release windows.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12280" y="4974336"/>
            <a:ext cx="320040" cy="3200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8"/>
          <p:cNvSpPr/>
          <p:nvPr/>
        </p:nvSpPr>
        <p:spPr>
          <a:xfrm>
            <a:off x="6812280" y="49743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269480" y="4901184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trending-slot volume is forecastable from recent history — useful for content and campaign planning.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2026-07-27T04:28:57Z</dcterms:created>
  <dcterms:modified xsi:type="dcterms:W3CDTF">2026-07-27T04:28:57Z</dcterms:modified>
</cp:coreProperties>
</file>